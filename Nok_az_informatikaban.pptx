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201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Style inspiration:
- User-uploaded reference presentation in this conversation.
Images:
- https://upload.wikimedia.org/wikipedia/commons/a/a4/Ada_Lovelace_portrait.jpg
- https://upload.wikimedia.org/wikipedia/commons/5/55/Grace_Hopper.jpg
- https://upload.wikimedia.org/wikipedia/commons/thumb/1/1f/Jean_Sammet_UMD_1979.jpg/1200px-Jean_Sammet_UMD_1979.jpg
- https://upload.wikimedia.org/wikipedia/commons/b/bd/Betty-Holbeton-circa-1950s-600dpi.jpg
- https://onwisconsin.uwalumni.com/content/uploads/2019/05/Sister-Mary-Kenneth-Keller1.jpg
- https://www.nwmissouri.edu/archives/computing/albums/Jean-LaterYears/ImageJ5.jpg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Claims:
- https://www.britannica.com/biography/Ada-Lovelace
- https://www.britannica.com/story/ada-lovelace-the-first-computer-programmer
Image:
- https://upload.wikimedia.org/wikipedia/commons/a/a4/Ada_Lovelace_portrait.jpg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Claims:
- https://www.britannica.com/biography/Grace-Hopper
- https://www.britannica.com/technology/compiler
Image:
- https://upload.wikimedia.org/wikipedia/commons/5/55/Grace_Hopper.jpg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Claims:
- https://cacm.acm.org/news/in-memoriam-jean-e-sammet-1928-2017/
- https://history.computer.org/pioneers/sammet.html
- https://spectrum.ieee.org/jean-sammet-accidental-computer-programmer
Image:
- https://upload.wikimedia.org/wikipedia/commons/thumb/1/1f/Jean_Sammet_UMD_1979.jpg/1200px-Jean_Sammet_UMD_1979.jpg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Claims:
- https://www.witi.com/articles/977/Female-Firsts%3A-Betty-Holberton-and-the-ENIAC/
- https://www.route-fifty.com/digital-government/2002/01/computer-pioneer-betty-holberton-dies-at-84/288261/
- https://en.wikipedia.org/wiki/Betty_Holberton
Image:
- https://upload.wikimedia.org/wikipedia/commons/b/bd/Betty-Holbeton-circa-1950s-600dpi.jpg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Claims:
- https://www.cs.wisc.edu/2019/03/18/2759/
- https://www.computer.org/volunteering/awards/cse-undergrad-teaching/about-mary-kenneth-keller
- https://onwisconsin.uwalumni.com/on-alumnae-mary-kenneth-keller/
Image:
- https://onwisconsin.uwalumni.com/content/uploads/2019/05/Sister-Mary-Kenneth-Keller1.jpg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Claims:
- https://computerhistory.org/profile/jean-jennings-bartik/
- https://www.lindahall.org/about/news/scientist-of-the-day/jean-jennings-bartik/
- https://www.nwmissouri.edu/archives/computing/index.htm
Image:
- https://www.nwmissouri.edu/archives/computing/albums/Jean-LaterYears/ImageJ5.jpg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6858000"/>
          </a:xfrm>
          <a:prstGeom prst="rect">
            <a:avLst/>
          </a:prstGeom>
          <a:solidFill>
            <a:srgbClr val="0F1427"/>
          </a:solidFill>
          <a:ln w="12700">
            <a:solidFill>
              <a:srgbClr val="0F142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987552"/>
            <a:ext cx="822960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15568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Női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informatikus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úttörők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70594" y="436746"/>
            <a:ext cx="66202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portrékon keresztül jobban látszik, hogy a programozás története kezdettől sokkal vegyesebb volt, mint ahogy ma gyakran elképzeljük.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602736" y="1333941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 Lovelace • Grace Hopper • Jean E. Sammet • Betty Holberton • Mary Kenneth Keller • Jean Bartik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85032" y="1856232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6510">
            <a:solidFill>
              <a:srgbClr val="6E61F6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0" descr="/mnt/data/women_profiles_assets/ada.jpg"/>
          <p:cNvPicPr>
            <a:picLocks noChangeAspect="1"/>
          </p:cNvPicPr>
          <p:nvPr/>
        </p:nvPicPr>
        <p:blipFill>
          <a:blip r:embed="rId3"/>
          <a:srcRect t="15643" b="15643"/>
          <a:stretch/>
        </p:blipFill>
        <p:spPr>
          <a:xfrm>
            <a:off x="3776472" y="1947672"/>
            <a:ext cx="1426464" cy="1408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76472" y="339242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2033"/>
                </a:solidFill>
              </a:rPr>
              <a:t>Ada Lovelace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618090" y="1856232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6510">
            <a:solidFill>
              <a:srgbClr val="24B6A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1" descr="/mnt/data/women_profiles_assets/grace.jpg"/>
          <p:cNvPicPr>
            <a:picLocks noChangeAspect="1"/>
          </p:cNvPicPr>
          <p:nvPr/>
        </p:nvPicPr>
        <p:blipFill>
          <a:blip r:embed="rId4"/>
          <a:srcRect t="7890" b="7890"/>
          <a:stretch/>
        </p:blipFill>
        <p:spPr>
          <a:xfrm>
            <a:off x="6691242" y="2001994"/>
            <a:ext cx="1426464" cy="1408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91242" y="3431567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2033"/>
                </a:solidFill>
              </a:rPr>
              <a:t>Grace Hopper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9551148" y="1836319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6510">
            <a:solidFill>
              <a:srgbClr val="F18C74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2" descr="/mnt/data/women_profiles_assets/jean_sammet.jpg"/>
          <p:cNvPicPr>
            <a:picLocks noChangeAspect="1"/>
          </p:cNvPicPr>
          <p:nvPr/>
        </p:nvPicPr>
        <p:blipFill>
          <a:blip r:embed="rId5"/>
          <a:srcRect l="15305" r="15305"/>
          <a:stretch/>
        </p:blipFill>
        <p:spPr>
          <a:xfrm>
            <a:off x="9624300" y="2001994"/>
            <a:ext cx="1426464" cy="1408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24300" y="341965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2033"/>
                </a:solidFill>
              </a:rPr>
              <a:t>Jean 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325112" y="3822192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6510">
            <a:solidFill>
              <a:srgbClr val="DFAF50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/mnt/data/women_profiles_assets/betty.jpg"/>
          <p:cNvPicPr>
            <a:picLocks noChangeAspect="1"/>
          </p:cNvPicPr>
          <p:nvPr/>
        </p:nvPicPr>
        <p:blipFill>
          <a:blip r:embed="rId6"/>
          <a:srcRect t="11763" b="11763"/>
          <a:stretch/>
        </p:blipFill>
        <p:spPr>
          <a:xfrm>
            <a:off x="4416552" y="3913632"/>
            <a:ext cx="1426464" cy="1408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16552" y="535838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2033"/>
                </a:solidFill>
              </a:rPr>
              <a:t>Betty Holberton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615042" y="3822192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6510">
            <a:solidFill>
              <a:srgbClr val="72B87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4" descr="/mnt/data/women_profiles_assets/mary.jpg"/>
          <p:cNvPicPr>
            <a:picLocks noChangeAspect="1"/>
          </p:cNvPicPr>
          <p:nvPr/>
        </p:nvPicPr>
        <p:blipFill>
          <a:blip r:embed="rId7"/>
          <a:srcRect t="10301" b="10301"/>
          <a:stretch/>
        </p:blipFill>
        <p:spPr>
          <a:xfrm>
            <a:off x="6688194" y="3913632"/>
            <a:ext cx="1426464" cy="14081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88194" y="53522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2033"/>
                </a:solidFill>
              </a:rPr>
              <a:t>Mary Kenneth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9059562" y="3822192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6510">
            <a:solidFill>
              <a:srgbClr val="5B7BF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5" descr="/mnt/data/women_profiles_assets/jean_bartik_late.jpg"/>
          <p:cNvPicPr>
            <a:picLocks noChangeAspect="1"/>
          </p:cNvPicPr>
          <p:nvPr/>
        </p:nvPicPr>
        <p:blipFill>
          <a:blip r:embed="rId8"/>
          <a:srcRect l="18344" r="18344"/>
          <a:stretch/>
        </p:blipFill>
        <p:spPr>
          <a:xfrm>
            <a:off x="9132714" y="3913632"/>
            <a:ext cx="1426464" cy="140817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32714" y="53522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2033"/>
                </a:solidFill>
              </a:rPr>
              <a:t>Jean Bartik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1005840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Női informatikus úttörők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61F6"/>
          </a:solidFill>
          <a:ln w="12700">
            <a:solidFill>
              <a:srgbClr val="6E61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51206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 Lovelace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49808" y="104241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F6778"/>
                </a:solidFill>
              </a:rPr>
              <a:t>1815–1852  •  Az algoritmikus gondolkodás úttörője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786384" y="1389888"/>
            <a:ext cx="2788920" cy="45262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5240">
            <a:solidFill>
              <a:srgbClr val="6E61F6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1554480"/>
            <a:ext cx="2478024" cy="3584448"/>
          </a:xfrm>
          <a:prstGeom prst="roundRect">
            <a:avLst>
              <a:gd name="adj" fmla="val 2214"/>
            </a:avLst>
          </a:prstGeom>
          <a:solidFill>
            <a:srgbClr val="EEF1F7"/>
          </a:solidFill>
          <a:ln w="12700">
            <a:solidFill>
              <a:srgbClr val="EEF1F7">
                <a:alpha val="0"/>
              </a:srgbClr>
            </a:solidFill>
            <a:prstDash val="solid"/>
          </a:ln>
        </p:spPr>
      </p:sp>
      <p:pic>
        <p:nvPicPr>
          <p:cNvPr id="9" name="Image 0" descr="/mnt/data/women_profiles_assets/a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566672"/>
            <a:ext cx="2478024" cy="35600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1832" y="5330952"/>
            <a:ext cx="2478024" cy="393192"/>
          </a:xfrm>
          <a:prstGeom prst="roundRect">
            <a:avLst>
              <a:gd name="adj" fmla="val 11628"/>
            </a:avLst>
          </a:prstGeom>
          <a:solidFill>
            <a:srgbClr val="6E61F6"/>
          </a:solidFill>
          <a:ln w="12700">
            <a:solidFill>
              <a:srgbClr val="6E61F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5440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</a:rPr>
              <a:t>Kulcsfigura a számítástechnika történetében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3858768" y="1389888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0F3FB"/>
          </a:solidFill>
          <a:ln w="12700">
            <a:solidFill>
              <a:srgbClr val="DCE2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9372" y="15209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E61F6"/>
                </a:solidFill>
              </a:rPr>
              <a:t>Miért fontos?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0" y="1792224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033"/>
                </a:solidFill>
              </a:rPr>
              <a:t>Ő volt az első, aki felismerte: egy számológépnek tervezett gép szimbólumokat és szabályokat is kezelhet.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38587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0233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6E61F6"/>
          </a:solidFill>
          <a:ln w="12700">
            <a:solidFill>
              <a:srgbClr val="6E61F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788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Első publikált algoritmus</a:t>
            </a:r>
            <a:endParaRPr lang="en-US" sz="1410" dirty="0"/>
          </a:p>
        </p:txBody>
      </p:sp>
      <p:sp>
        <p:nvSpPr>
          <p:cNvPr id="18" name="Text 15"/>
          <p:cNvSpPr/>
          <p:nvPr/>
        </p:nvSpPr>
        <p:spPr>
          <a:xfrm>
            <a:off x="41788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1843-as jegyzeteiben lépésről lépésre leírta, hogyan számolhatná ki az Analytical Engine a Bernoulli-számokat.</a:t>
            </a:r>
            <a:endParaRPr lang="en-US" sz="1175" dirty="0"/>
          </a:p>
        </p:txBody>
      </p:sp>
      <p:sp>
        <p:nvSpPr>
          <p:cNvPr id="19" name="Shape 16"/>
          <p:cNvSpPr/>
          <p:nvPr/>
        </p:nvSpPr>
        <p:spPr>
          <a:xfrm>
            <a:off x="77449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095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6E61F6"/>
          </a:solidFill>
          <a:ln w="12700">
            <a:solidFill>
              <a:srgbClr val="6E61F6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650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A gép több lehet, mint számológép</a:t>
            </a:r>
            <a:endParaRPr lang="en-US" sz="1410" dirty="0"/>
          </a:p>
        </p:txBody>
      </p:sp>
      <p:sp>
        <p:nvSpPr>
          <p:cNvPr id="22" name="Text 19"/>
          <p:cNvSpPr/>
          <p:nvPr/>
        </p:nvSpPr>
        <p:spPr>
          <a:xfrm>
            <a:off x="80650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Azt írta, hogy a gép nemcsak számokkal, hanem bármilyen jelrendszerrel is dolgozhat, ha szabályok írják le őket.</a:t>
            </a:r>
            <a:endParaRPr lang="en-US" sz="1175" dirty="0"/>
          </a:p>
        </p:txBody>
      </p:sp>
      <p:sp>
        <p:nvSpPr>
          <p:cNvPr id="23" name="Shape 20"/>
          <p:cNvSpPr/>
          <p:nvPr/>
        </p:nvSpPr>
        <p:spPr>
          <a:xfrm>
            <a:off x="3858768" y="4005072"/>
            <a:ext cx="7498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023360" y="4169664"/>
            <a:ext cx="54864" cy="932688"/>
          </a:xfrm>
          <a:prstGeom prst="roundRect">
            <a:avLst>
              <a:gd name="adj" fmla="val 33333"/>
            </a:avLst>
          </a:prstGeom>
          <a:solidFill>
            <a:srgbClr val="6E61F6"/>
          </a:solidFill>
          <a:ln w="12700">
            <a:solidFill>
              <a:srgbClr val="6E61F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78808" y="415137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A modern informatika előképe</a:t>
            </a:r>
            <a:endParaRPr lang="en-US" sz="1410" dirty="0"/>
          </a:p>
        </p:txBody>
      </p:sp>
      <p:sp>
        <p:nvSpPr>
          <p:cNvPr id="26" name="Text 23"/>
          <p:cNvSpPr/>
          <p:nvPr/>
        </p:nvSpPr>
        <p:spPr>
          <a:xfrm>
            <a:off x="4178808" y="4434840"/>
            <a:ext cx="699516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Ez a gondolat tette őt a programozás és az általános célú számítógép egyik legkorábbi elméleti alakjává.</a:t>
            </a:r>
            <a:endParaRPr lang="en-US" sz="1175" dirty="0"/>
          </a:p>
        </p:txBody>
      </p:sp>
      <p:sp>
        <p:nvSpPr>
          <p:cNvPr id="27" name="Shape 24"/>
          <p:cNvSpPr/>
          <p:nvPr/>
        </p:nvSpPr>
        <p:spPr>
          <a:xfrm>
            <a:off x="4709160" y="5404104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2312" y="553212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Analytical Engine</a:t>
            </a:r>
            <a:endParaRPr lang="en-US" sz="1070" dirty="0"/>
          </a:p>
        </p:txBody>
      </p:sp>
      <p:sp>
        <p:nvSpPr>
          <p:cNvPr id="29" name="Shape 26"/>
          <p:cNvSpPr/>
          <p:nvPr/>
        </p:nvSpPr>
        <p:spPr>
          <a:xfrm>
            <a:off x="6812280" y="5404104"/>
            <a:ext cx="1993392" cy="420624"/>
          </a:xfrm>
          <a:prstGeom prst="roundRect">
            <a:avLst>
              <a:gd name="adj" fmla="val 17391"/>
            </a:avLst>
          </a:prstGeom>
          <a:solidFill>
            <a:srgbClr val="6E61F6"/>
          </a:solidFill>
          <a:ln w="12700">
            <a:solidFill>
              <a:srgbClr val="6E61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85432" y="553212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Bernoulli-számok</a:t>
            </a:r>
            <a:endParaRPr lang="en-US" sz="1070" dirty="0"/>
          </a:p>
        </p:txBody>
      </p:sp>
      <p:sp>
        <p:nvSpPr>
          <p:cNvPr id="31" name="Shape 28"/>
          <p:cNvSpPr/>
          <p:nvPr/>
        </p:nvSpPr>
        <p:spPr>
          <a:xfrm>
            <a:off x="8970264" y="5404104"/>
            <a:ext cx="2011680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43416" y="553212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első algoritmus</a:t>
            </a:r>
            <a:endParaRPr lang="en-US" sz="1070" dirty="0"/>
          </a:p>
        </p:txBody>
      </p:sp>
      <p:sp>
        <p:nvSpPr>
          <p:cNvPr id="33" name="Shape 30"/>
          <p:cNvSpPr/>
          <p:nvPr/>
        </p:nvSpPr>
        <p:spPr>
          <a:xfrm>
            <a:off x="749808" y="6309360"/>
            <a:ext cx="1078992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64008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i="1" dirty="0">
                <a:solidFill>
                  <a:srgbClr val="5F6778"/>
                </a:solidFill>
              </a:rPr>
              <a:t>A programozás története nem mellékszereplőkkel, hanem alapító figurákkal írta be a nőket a digitális korszakba.</a:t>
            </a:r>
            <a:endParaRPr lang="en-US" sz="1040" dirty="0"/>
          </a:p>
        </p:txBody>
      </p:sp>
      <p:sp>
        <p:nvSpPr>
          <p:cNvPr id="36" name="Text 32"/>
          <p:cNvSpPr/>
          <p:nvPr/>
        </p:nvSpPr>
        <p:spPr>
          <a:xfrm>
            <a:off x="1005840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Női informatikus úttörők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B6A8"/>
          </a:solidFill>
          <a:ln w="12700">
            <a:solidFill>
              <a:srgbClr val="24B6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51206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Grace Hopper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49808" y="104241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F6778"/>
                </a:solidFill>
              </a:rPr>
              <a:t>1906–1992  •  A fordítóprogramok és a COBOL korszakának ikonja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786384" y="1389888"/>
            <a:ext cx="2788920" cy="45262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5240">
            <a:solidFill>
              <a:srgbClr val="24B6A8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1554480"/>
            <a:ext cx="2478024" cy="3584448"/>
          </a:xfrm>
          <a:prstGeom prst="roundRect">
            <a:avLst>
              <a:gd name="adj" fmla="val 2214"/>
            </a:avLst>
          </a:prstGeom>
          <a:solidFill>
            <a:srgbClr val="EEF1F7"/>
          </a:solidFill>
          <a:ln w="12700">
            <a:solidFill>
              <a:srgbClr val="EEF1F7">
                <a:alpha val="0"/>
              </a:srgbClr>
            </a:solidFill>
            <a:prstDash val="solid"/>
          </a:ln>
        </p:spPr>
      </p:sp>
      <p:pic>
        <p:nvPicPr>
          <p:cNvPr id="9" name="Image 0" descr="/mnt/data/women_profiles_assets/gra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94400"/>
            <a:ext cx="2478024" cy="2904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1832" y="5330952"/>
            <a:ext cx="2478024" cy="393192"/>
          </a:xfrm>
          <a:prstGeom prst="roundRect">
            <a:avLst>
              <a:gd name="adj" fmla="val 11628"/>
            </a:avLst>
          </a:prstGeom>
          <a:solidFill>
            <a:srgbClr val="24B6A8"/>
          </a:solidFill>
          <a:ln w="12700">
            <a:solidFill>
              <a:srgbClr val="24B6A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5440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</a:rPr>
              <a:t>Kulcsfigura a számítástechnika történetében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3858768" y="1389888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0F3FB"/>
          </a:solidFill>
          <a:ln w="12700">
            <a:solidFill>
              <a:srgbClr val="DCE2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9372" y="15270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4B6A8"/>
                </a:solidFill>
              </a:rPr>
              <a:t>Miért fontos?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0" y="1792224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033"/>
                </a:solidFill>
              </a:rPr>
              <a:t>Hopper tette hihetővé, hogy a számítógépeket emberközelibb, magasabb szintű nyelveken is lehet vezérelni.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38587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0233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24B6A8"/>
          </a:solidFill>
          <a:ln w="12700">
            <a:solidFill>
              <a:srgbClr val="24B6A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788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Mark I és haditengerészeti munka</a:t>
            </a:r>
            <a:endParaRPr lang="en-US" sz="1410" dirty="0"/>
          </a:p>
        </p:txBody>
      </p:sp>
      <p:sp>
        <p:nvSpPr>
          <p:cNvPr id="18" name="Text 15"/>
          <p:cNvSpPr/>
          <p:nvPr/>
        </p:nvSpPr>
        <p:spPr>
          <a:xfrm>
            <a:off x="41788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 Harvard Mark I körül végzett programozói munkája a korai nagygépes számítás egyik meghatározó fejezete volt.</a:t>
            </a:r>
            <a:endParaRPr lang="en-US" sz="1175" dirty="0"/>
          </a:p>
        </p:txBody>
      </p:sp>
      <p:sp>
        <p:nvSpPr>
          <p:cNvPr id="19" name="Shape 16"/>
          <p:cNvSpPr/>
          <p:nvPr/>
        </p:nvSpPr>
        <p:spPr>
          <a:xfrm>
            <a:off x="77449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095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24B6A8"/>
          </a:solidFill>
          <a:ln w="12700">
            <a:solidFill>
              <a:srgbClr val="24B6A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650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Compiler-szemlélet</a:t>
            </a:r>
            <a:endParaRPr lang="en-US" sz="1410" dirty="0"/>
          </a:p>
        </p:txBody>
      </p:sp>
      <p:sp>
        <p:nvSpPr>
          <p:cNvPr id="22" name="Text 19"/>
          <p:cNvSpPr/>
          <p:nvPr/>
        </p:nvSpPr>
        <p:spPr>
          <a:xfrm>
            <a:off x="80650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Az 1950-es években olyan fordítóprogramokon dolgozott, amelyek megnyitották az utat a gépközeli kód és az emberi nyelv közötti fordítás felé.</a:t>
            </a:r>
            <a:endParaRPr lang="en-US" sz="1175" dirty="0"/>
          </a:p>
        </p:txBody>
      </p:sp>
      <p:sp>
        <p:nvSpPr>
          <p:cNvPr id="23" name="Shape 20"/>
          <p:cNvSpPr/>
          <p:nvPr/>
        </p:nvSpPr>
        <p:spPr>
          <a:xfrm>
            <a:off x="3858768" y="4005072"/>
            <a:ext cx="7498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023360" y="4169664"/>
            <a:ext cx="54864" cy="932688"/>
          </a:xfrm>
          <a:prstGeom prst="roundRect">
            <a:avLst>
              <a:gd name="adj" fmla="val 33333"/>
            </a:avLst>
          </a:prstGeom>
          <a:solidFill>
            <a:srgbClr val="24B6A8"/>
          </a:solidFill>
          <a:ln w="12700">
            <a:solidFill>
              <a:srgbClr val="24B6A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78808" y="415137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COBOL és „debugging”</a:t>
            </a:r>
            <a:endParaRPr lang="en-US" sz="1410" dirty="0"/>
          </a:p>
        </p:txBody>
      </p:sp>
      <p:sp>
        <p:nvSpPr>
          <p:cNvPr id="26" name="Text 23"/>
          <p:cNvSpPr/>
          <p:nvPr/>
        </p:nvSpPr>
        <p:spPr>
          <a:xfrm>
            <a:off x="4178808" y="4434840"/>
            <a:ext cx="699516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 Flow-Matic nagy hatással volt a COBOL-ra, a hozzá kapcsolódó molyos történet pedig legendássá tette a „debugging” kifejezést.</a:t>
            </a:r>
            <a:endParaRPr lang="en-US" sz="1175" dirty="0"/>
          </a:p>
        </p:txBody>
      </p:sp>
      <p:sp>
        <p:nvSpPr>
          <p:cNvPr id="27" name="Shape 24"/>
          <p:cNvSpPr/>
          <p:nvPr/>
        </p:nvSpPr>
        <p:spPr>
          <a:xfrm>
            <a:off x="4709160" y="5404104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2312" y="553212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Harvard Mark I</a:t>
            </a:r>
            <a:endParaRPr lang="en-US" sz="1070" dirty="0"/>
          </a:p>
        </p:txBody>
      </p:sp>
      <p:sp>
        <p:nvSpPr>
          <p:cNvPr id="29" name="Shape 26"/>
          <p:cNvSpPr/>
          <p:nvPr/>
        </p:nvSpPr>
        <p:spPr>
          <a:xfrm>
            <a:off x="6812280" y="5404104"/>
            <a:ext cx="1993392" cy="420624"/>
          </a:xfrm>
          <a:prstGeom prst="roundRect">
            <a:avLst>
              <a:gd name="adj" fmla="val 17391"/>
            </a:avLst>
          </a:prstGeom>
          <a:solidFill>
            <a:srgbClr val="24B6A8"/>
          </a:solidFill>
          <a:ln w="12700">
            <a:solidFill>
              <a:srgbClr val="24B6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85432" y="553212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compiler</a:t>
            </a:r>
            <a:endParaRPr lang="en-US" sz="1070" dirty="0"/>
          </a:p>
        </p:txBody>
      </p:sp>
      <p:sp>
        <p:nvSpPr>
          <p:cNvPr id="31" name="Shape 28"/>
          <p:cNvSpPr/>
          <p:nvPr/>
        </p:nvSpPr>
        <p:spPr>
          <a:xfrm>
            <a:off x="8970264" y="5404104"/>
            <a:ext cx="2011680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43416" y="553212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COBOL</a:t>
            </a:r>
            <a:endParaRPr lang="en-US" sz="1070" dirty="0"/>
          </a:p>
        </p:txBody>
      </p:sp>
      <p:sp>
        <p:nvSpPr>
          <p:cNvPr id="33" name="Shape 30"/>
          <p:cNvSpPr/>
          <p:nvPr/>
        </p:nvSpPr>
        <p:spPr>
          <a:xfrm>
            <a:off x="749808" y="6309360"/>
            <a:ext cx="1078992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64008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i="1" dirty="0">
                <a:solidFill>
                  <a:srgbClr val="5F6778"/>
                </a:solidFill>
              </a:rPr>
              <a:t>A programozás története nem mellékszereplőkkel, hanem alapító figurákkal írta be a nőket a digitális korszakba.</a:t>
            </a:r>
            <a:endParaRPr lang="en-US" sz="1040" dirty="0"/>
          </a:p>
        </p:txBody>
      </p:sp>
      <p:sp>
        <p:nvSpPr>
          <p:cNvPr id="36" name="Text 32"/>
          <p:cNvSpPr/>
          <p:nvPr/>
        </p:nvSpPr>
        <p:spPr>
          <a:xfrm>
            <a:off x="1005840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Női informatikus úttörők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18C74"/>
          </a:solidFill>
          <a:ln w="12700">
            <a:solidFill>
              <a:srgbClr val="F18C7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51206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Jean E. Sammet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49808" y="104241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F6778"/>
                </a:solidFill>
              </a:rPr>
              <a:t>1928–2017  •  A programnyelvek rendszerezője és formálója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786384" y="1389888"/>
            <a:ext cx="2788920" cy="45262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5240">
            <a:solidFill>
              <a:srgbClr val="F18C74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1554480"/>
            <a:ext cx="2478024" cy="3584448"/>
          </a:xfrm>
          <a:prstGeom prst="roundRect">
            <a:avLst>
              <a:gd name="adj" fmla="val 2214"/>
            </a:avLst>
          </a:prstGeom>
          <a:solidFill>
            <a:srgbClr val="EEF1F7"/>
          </a:solidFill>
          <a:ln w="12700">
            <a:solidFill>
              <a:srgbClr val="EEF1F7">
                <a:alpha val="0"/>
              </a:srgbClr>
            </a:solidFill>
            <a:prstDash val="solid"/>
          </a:ln>
        </p:spPr>
      </p:sp>
      <p:pic>
        <p:nvPicPr>
          <p:cNvPr id="9" name="Image 0" descr="/mnt/data/women_profiles_assets/jean_samm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497981"/>
            <a:ext cx="2478024" cy="169744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1832" y="5330952"/>
            <a:ext cx="2478024" cy="393192"/>
          </a:xfrm>
          <a:prstGeom prst="roundRect">
            <a:avLst>
              <a:gd name="adj" fmla="val 11628"/>
            </a:avLst>
          </a:prstGeom>
          <a:solidFill>
            <a:srgbClr val="F18C74"/>
          </a:solidFill>
          <a:ln w="12700">
            <a:solidFill>
              <a:srgbClr val="F18C7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5440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</a:rPr>
              <a:t>Kulcsfigura a számítástechnika történetében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3858768" y="1389888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0F3FB"/>
          </a:solidFill>
          <a:ln w="12700">
            <a:solidFill>
              <a:srgbClr val="DCE2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15270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8C74"/>
                </a:solidFill>
              </a:rPr>
              <a:t>Miért fontos?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0" y="1792224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033"/>
                </a:solidFill>
              </a:rPr>
              <a:t>Sammet munkája megmutatta, hogy a szoftver fejlődését nemcsak gépek, hanem nyelvek, szabványok és közösségek is alakítják.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38587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0233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F18C74"/>
          </a:solidFill>
          <a:ln w="12700">
            <a:solidFill>
              <a:srgbClr val="F18C74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788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FORMAC</a:t>
            </a:r>
            <a:endParaRPr lang="en-US" sz="1410" dirty="0"/>
          </a:p>
        </p:txBody>
      </p:sp>
      <p:sp>
        <p:nvSpPr>
          <p:cNvPr id="18" name="Text 15"/>
          <p:cNvSpPr/>
          <p:nvPr/>
        </p:nvSpPr>
        <p:spPr>
          <a:xfrm>
            <a:off x="41788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Az IBM-nél a FORMAC fejlesztésének vezető alakja volt: ez az egyik első, széles körben használt nyelv volt szimbolikus algebrai műveletekre.</a:t>
            </a:r>
            <a:endParaRPr lang="en-US" sz="1175" dirty="0"/>
          </a:p>
        </p:txBody>
      </p:sp>
      <p:sp>
        <p:nvSpPr>
          <p:cNvPr id="19" name="Shape 16"/>
          <p:cNvSpPr/>
          <p:nvPr/>
        </p:nvSpPr>
        <p:spPr>
          <a:xfrm>
            <a:off x="77449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095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F18C74"/>
          </a:solidFill>
          <a:ln w="12700">
            <a:solidFill>
              <a:srgbClr val="F18C74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650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COBOL-kapcsolat</a:t>
            </a:r>
            <a:endParaRPr lang="en-US" sz="1410" dirty="0"/>
          </a:p>
        </p:txBody>
      </p:sp>
      <p:sp>
        <p:nvSpPr>
          <p:cNvPr id="22" name="Text 19"/>
          <p:cNvSpPr/>
          <p:nvPr/>
        </p:nvSpPr>
        <p:spPr>
          <a:xfrm>
            <a:off x="80650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 vállalati informatikát meghatározó COBOL korai kialakításában is szerepet vállalt, így a szoftver ipari méretezésében is.</a:t>
            </a:r>
            <a:endParaRPr lang="en-US" sz="1175" dirty="0"/>
          </a:p>
        </p:txBody>
      </p:sp>
      <p:sp>
        <p:nvSpPr>
          <p:cNvPr id="23" name="Shape 20"/>
          <p:cNvSpPr/>
          <p:nvPr/>
        </p:nvSpPr>
        <p:spPr>
          <a:xfrm>
            <a:off x="3858768" y="4005072"/>
            <a:ext cx="7498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023360" y="4169664"/>
            <a:ext cx="54864" cy="932688"/>
          </a:xfrm>
          <a:prstGeom prst="roundRect">
            <a:avLst>
              <a:gd name="adj" fmla="val 33333"/>
            </a:avLst>
          </a:prstGeom>
          <a:solidFill>
            <a:srgbClr val="F18C74"/>
          </a:solidFill>
          <a:ln w="12700">
            <a:solidFill>
              <a:srgbClr val="F18C74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78808" y="415137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Szakmai vezető</a:t>
            </a:r>
            <a:endParaRPr lang="en-US" sz="1410" dirty="0"/>
          </a:p>
        </p:txBody>
      </p:sp>
      <p:sp>
        <p:nvSpPr>
          <p:cNvPr id="26" name="Text 23"/>
          <p:cNvSpPr/>
          <p:nvPr/>
        </p:nvSpPr>
        <p:spPr>
          <a:xfrm>
            <a:off x="4178808" y="4434840"/>
            <a:ext cx="699516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Az ACM első női elnökeként és a programnyelvek történetéről írt alapmű szerzőjeként nemcsak fejlesztő, hanem tudástérképező is volt.</a:t>
            </a:r>
            <a:endParaRPr lang="en-US" sz="1175" dirty="0"/>
          </a:p>
        </p:txBody>
      </p:sp>
      <p:sp>
        <p:nvSpPr>
          <p:cNvPr id="27" name="Shape 24"/>
          <p:cNvSpPr/>
          <p:nvPr/>
        </p:nvSpPr>
        <p:spPr>
          <a:xfrm>
            <a:off x="4709160" y="5404104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2312" y="553212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IBM</a:t>
            </a:r>
            <a:endParaRPr lang="en-US" sz="1070" dirty="0"/>
          </a:p>
        </p:txBody>
      </p:sp>
      <p:sp>
        <p:nvSpPr>
          <p:cNvPr id="29" name="Shape 26"/>
          <p:cNvSpPr/>
          <p:nvPr/>
        </p:nvSpPr>
        <p:spPr>
          <a:xfrm>
            <a:off x="6812280" y="5404104"/>
            <a:ext cx="1993392" cy="420624"/>
          </a:xfrm>
          <a:prstGeom prst="roundRect">
            <a:avLst>
              <a:gd name="adj" fmla="val 17391"/>
            </a:avLst>
          </a:prstGeom>
          <a:solidFill>
            <a:srgbClr val="F18C74"/>
          </a:solidFill>
          <a:ln w="12700">
            <a:solidFill>
              <a:srgbClr val="F18C7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85432" y="553212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FORMAC</a:t>
            </a:r>
            <a:endParaRPr lang="en-US" sz="1070" dirty="0"/>
          </a:p>
        </p:txBody>
      </p:sp>
      <p:sp>
        <p:nvSpPr>
          <p:cNvPr id="31" name="Shape 28"/>
          <p:cNvSpPr/>
          <p:nvPr/>
        </p:nvSpPr>
        <p:spPr>
          <a:xfrm>
            <a:off x="8970264" y="5404104"/>
            <a:ext cx="2011680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43416" y="553212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ACM-elnök</a:t>
            </a:r>
            <a:endParaRPr lang="en-US" sz="1070" dirty="0"/>
          </a:p>
        </p:txBody>
      </p:sp>
      <p:sp>
        <p:nvSpPr>
          <p:cNvPr id="33" name="Shape 30"/>
          <p:cNvSpPr/>
          <p:nvPr/>
        </p:nvSpPr>
        <p:spPr>
          <a:xfrm>
            <a:off x="749808" y="6309360"/>
            <a:ext cx="1078992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64008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i="1" dirty="0">
                <a:solidFill>
                  <a:srgbClr val="5F6778"/>
                </a:solidFill>
              </a:rPr>
              <a:t>A programozás története nem mellékszereplőkkel, hanem alapító figurákkal írta be a nőket a digitális korszakba.</a:t>
            </a:r>
            <a:endParaRPr lang="en-US" sz="1040" dirty="0"/>
          </a:p>
        </p:txBody>
      </p:sp>
      <p:sp>
        <p:nvSpPr>
          <p:cNvPr id="36" name="Text 32"/>
          <p:cNvSpPr/>
          <p:nvPr/>
        </p:nvSpPr>
        <p:spPr>
          <a:xfrm>
            <a:off x="1005840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Női informatikus úttörők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AF50"/>
          </a:solidFill>
          <a:ln w="12700">
            <a:solidFill>
              <a:srgbClr val="DFAF5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51206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Betty Holberton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49808" y="104241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F6778"/>
                </a:solidFill>
              </a:rPr>
              <a:t>1917–2001  •  Az ENIAC-tól a felhasználható szoftvereszközökig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786384" y="1389888"/>
            <a:ext cx="2788920" cy="45262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5240">
            <a:solidFill>
              <a:srgbClr val="DFAF50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1554480"/>
            <a:ext cx="2478024" cy="3584448"/>
          </a:xfrm>
          <a:prstGeom prst="roundRect">
            <a:avLst>
              <a:gd name="adj" fmla="val 2214"/>
            </a:avLst>
          </a:prstGeom>
          <a:solidFill>
            <a:srgbClr val="EEF1F7"/>
          </a:solidFill>
          <a:ln w="12700">
            <a:solidFill>
              <a:srgbClr val="EEF1F7">
                <a:alpha val="0"/>
              </a:srgbClr>
            </a:solidFill>
            <a:prstDash val="solid"/>
          </a:ln>
        </p:spPr>
      </p:sp>
      <p:pic>
        <p:nvPicPr>
          <p:cNvPr id="9" name="Image 0" descr="/mnt/data/women_profiles_assets/bet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747315"/>
            <a:ext cx="2478024" cy="31987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1832" y="5330952"/>
            <a:ext cx="2478024" cy="393192"/>
          </a:xfrm>
          <a:prstGeom prst="roundRect">
            <a:avLst>
              <a:gd name="adj" fmla="val 11628"/>
            </a:avLst>
          </a:prstGeom>
          <a:solidFill>
            <a:srgbClr val="DFAF50"/>
          </a:solidFill>
          <a:ln w="12700">
            <a:solidFill>
              <a:srgbClr val="DFAF5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5440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</a:rPr>
              <a:t>Kulcsfigura a számítástechnika történetében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3858768" y="1389888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0F3FB"/>
          </a:solidFill>
          <a:ln w="12700">
            <a:solidFill>
              <a:srgbClr val="DCE2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9372" y="15209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FAF50"/>
                </a:solidFill>
              </a:rPr>
              <a:t>Miért fontos?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0" y="1792224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033"/>
                </a:solidFill>
              </a:rPr>
              <a:t>Holberton pályája azt mutatja, hogy a programozás már a kezdetektől kreatív problémamegoldás és rendszertervezés volt.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38587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0233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DFAF50"/>
          </a:solidFill>
          <a:ln w="12700">
            <a:solidFill>
              <a:srgbClr val="DFAF5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788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Az ENIAC egyik eredeti programozója</a:t>
            </a:r>
            <a:endParaRPr lang="en-US" sz="1410" dirty="0"/>
          </a:p>
        </p:txBody>
      </p:sp>
      <p:sp>
        <p:nvSpPr>
          <p:cNvPr id="18" name="Text 15"/>
          <p:cNvSpPr/>
          <p:nvPr/>
        </p:nvSpPr>
        <p:spPr>
          <a:xfrm>
            <a:off x="41788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 világ első általános célú elektronikus számítógépét nemcsak kezelte, hanem kézzel huzalozva és kapcsolózva „programozta”.</a:t>
            </a:r>
            <a:endParaRPr lang="en-US" sz="1175" dirty="0"/>
          </a:p>
        </p:txBody>
      </p:sp>
      <p:sp>
        <p:nvSpPr>
          <p:cNvPr id="19" name="Shape 16"/>
          <p:cNvSpPr/>
          <p:nvPr/>
        </p:nvSpPr>
        <p:spPr>
          <a:xfrm>
            <a:off x="77449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095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DFAF50"/>
          </a:solidFill>
          <a:ln w="12700">
            <a:solidFill>
              <a:srgbClr val="DFAF5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650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BINAC és UNIVAC</a:t>
            </a:r>
            <a:endParaRPr lang="en-US" sz="1410" dirty="0"/>
          </a:p>
        </p:txBody>
      </p:sp>
      <p:sp>
        <p:nvSpPr>
          <p:cNvPr id="22" name="Text 19"/>
          <p:cNvSpPr/>
          <p:nvPr/>
        </p:nvSpPr>
        <p:spPr>
          <a:xfrm>
            <a:off x="80650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 háború után a BINAC és a UNIVAC körüli fejlesztésekben dolgozott, vagyis átkötötte a hadikorszakot a kereskedelmi számítógépek világával.</a:t>
            </a:r>
            <a:endParaRPr lang="en-US" sz="1175" dirty="0"/>
          </a:p>
        </p:txBody>
      </p:sp>
      <p:sp>
        <p:nvSpPr>
          <p:cNvPr id="23" name="Shape 20"/>
          <p:cNvSpPr/>
          <p:nvPr/>
        </p:nvSpPr>
        <p:spPr>
          <a:xfrm>
            <a:off x="3858768" y="4005072"/>
            <a:ext cx="7498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023360" y="4169664"/>
            <a:ext cx="54864" cy="932688"/>
          </a:xfrm>
          <a:prstGeom prst="roundRect">
            <a:avLst>
              <a:gd name="adj" fmla="val 33333"/>
            </a:avLst>
          </a:prstGeom>
          <a:solidFill>
            <a:srgbClr val="DFAF50"/>
          </a:solidFill>
          <a:ln w="12700">
            <a:solidFill>
              <a:srgbClr val="DFAF50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78808" y="415137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Korai szoftvereszközök</a:t>
            </a:r>
            <a:endParaRPr lang="en-US" sz="1410" dirty="0"/>
          </a:p>
        </p:txBody>
      </p:sp>
      <p:sp>
        <p:nvSpPr>
          <p:cNvPr id="26" name="Text 23"/>
          <p:cNvSpPr/>
          <p:nvPr/>
        </p:nvSpPr>
        <p:spPr>
          <a:xfrm>
            <a:off x="4178808" y="4434840"/>
            <a:ext cx="699516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Nevéhez fűződnek olyan gyakorlati ötletek és eszközök, amelyek a hibakeresést, az adatrendezést és az emberbarátabb géphasználatot segítették.</a:t>
            </a:r>
            <a:endParaRPr lang="en-US" sz="1175" dirty="0"/>
          </a:p>
        </p:txBody>
      </p:sp>
      <p:sp>
        <p:nvSpPr>
          <p:cNvPr id="27" name="Shape 24"/>
          <p:cNvSpPr/>
          <p:nvPr/>
        </p:nvSpPr>
        <p:spPr>
          <a:xfrm>
            <a:off x="4709160" y="5404104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2312" y="553212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ENIAC</a:t>
            </a:r>
            <a:endParaRPr lang="en-US" sz="1070" dirty="0"/>
          </a:p>
        </p:txBody>
      </p:sp>
      <p:sp>
        <p:nvSpPr>
          <p:cNvPr id="29" name="Shape 26"/>
          <p:cNvSpPr/>
          <p:nvPr/>
        </p:nvSpPr>
        <p:spPr>
          <a:xfrm>
            <a:off x="6812280" y="5404104"/>
            <a:ext cx="1993392" cy="420624"/>
          </a:xfrm>
          <a:prstGeom prst="roundRect">
            <a:avLst>
              <a:gd name="adj" fmla="val 17391"/>
            </a:avLst>
          </a:prstGeom>
          <a:solidFill>
            <a:srgbClr val="DFAF50"/>
          </a:solidFill>
          <a:ln w="12700">
            <a:solidFill>
              <a:srgbClr val="DFAF5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85432" y="553212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UNIVAC</a:t>
            </a:r>
            <a:endParaRPr lang="en-US" sz="1070" dirty="0"/>
          </a:p>
        </p:txBody>
      </p:sp>
      <p:sp>
        <p:nvSpPr>
          <p:cNvPr id="31" name="Shape 28"/>
          <p:cNvSpPr/>
          <p:nvPr/>
        </p:nvSpPr>
        <p:spPr>
          <a:xfrm>
            <a:off x="8970264" y="5404104"/>
            <a:ext cx="2011680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43416" y="553212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korai eszközök</a:t>
            </a:r>
            <a:endParaRPr lang="en-US" sz="1070" dirty="0"/>
          </a:p>
        </p:txBody>
      </p:sp>
      <p:sp>
        <p:nvSpPr>
          <p:cNvPr id="33" name="Shape 30"/>
          <p:cNvSpPr/>
          <p:nvPr/>
        </p:nvSpPr>
        <p:spPr>
          <a:xfrm>
            <a:off x="749808" y="6309360"/>
            <a:ext cx="1078992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64008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i="1" dirty="0">
                <a:solidFill>
                  <a:srgbClr val="5F6778"/>
                </a:solidFill>
              </a:rPr>
              <a:t>A programozás története nem mellékszereplőkkel, hanem alapító figurákkal írta be a nőket a digitális korszakba.</a:t>
            </a:r>
            <a:endParaRPr lang="en-US" sz="1040" dirty="0"/>
          </a:p>
        </p:txBody>
      </p:sp>
      <p:sp>
        <p:nvSpPr>
          <p:cNvPr id="36" name="Text 32"/>
          <p:cNvSpPr/>
          <p:nvPr/>
        </p:nvSpPr>
        <p:spPr>
          <a:xfrm>
            <a:off x="1005840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Női informatikus úttörők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2B87A"/>
          </a:solidFill>
          <a:ln w="12700">
            <a:solidFill>
              <a:srgbClr val="72B8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51206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Mary Kenneth Keller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49808" y="104241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F6778"/>
                </a:solidFill>
              </a:rPr>
              <a:t>1913–1985  •  Az informatikai oktatás és hozzáférés úttörője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786384" y="1389888"/>
            <a:ext cx="2788920" cy="45262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5240">
            <a:solidFill>
              <a:srgbClr val="72B87A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1554480"/>
            <a:ext cx="2478024" cy="3584448"/>
          </a:xfrm>
          <a:prstGeom prst="roundRect">
            <a:avLst>
              <a:gd name="adj" fmla="val 2214"/>
            </a:avLst>
          </a:prstGeom>
          <a:solidFill>
            <a:srgbClr val="EEF1F7"/>
          </a:solidFill>
          <a:ln w="12700">
            <a:solidFill>
              <a:srgbClr val="EEF1F7">
                <a:alpha val="0"/>
              </a:srgbClr>
            </a:solidFill>
            <a:prstDash val="solid"/>
          </a:ln>
        </p:spPr>
      </p:sp>
      <p:pic>
        <p:nvPicPr>
          <p:cNvPr id="9" name="Image 0" descr="/mnt/data/women_profiles_assets/m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06199"/>
            <a:ext cx="2478024" cy="308101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1832" y="5330952"/>
            <a:ext cx="2478024" cy="393192"/>
          </a:xfrm>
          <a:prstGeom prst="roundRect">
            <a:avLst>
              <a:gd name="adj" fmla="val 11628"/>
            </a:avLst>
          </a:prstGeom>
          <a:solidFill>
            <a:srgbClr val="72B87A"/>
          </a:solidFill>
          <a:ln w="12700">
            <a:solidFill>
              <a:srgbClr val="72B87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5440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</a:rPr>
              <a:t>Kulcsfigura a számítástechnika történetében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3858768" y="1389888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0F3FB"/>
          </a:solidFill>
          <a:ln w="12700">
            <a:solidFill>
              <a:srgbClr val="DCE2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9372" y="1532823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2B87A"/>
                </a:solidFill>
              </a:rPr>
              <a:t>Miért fontos?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0" y="1792224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033"/>
                </a:solidFill>
              </a:rPr>
              <a:t>Keller számára a számítógép nem elit eszköz, hanem oktatási és társadalmi hozzáférést bővítő technológia volt.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38587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0233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72B87A"/>
          </a:solidFill>
          <a:ln w="12700">
            <a:solidFill>
              <a:srgbClr val="72B87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788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Történelmi doktori fokozat</a:t>
            </a:r>
            <a:endParaRPr lang="en-US" sz="1410" dirty="0"/>
          </a:p>
        </p:txBody>
      </p:sp>
      <p:sp>
        <p:nvSpPr>
          <p:cNvPr id="18" name="Text 15"/>
          <p:cNvSpPr/>
          <p:nvPr/>
        </p:nvSpPr>
        <p:spPr>
          <a:xfrm>
            <a:off x="41788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1965-ben az elsők között, és az első amerikai nőként szerzett PhD-fokozatot számítástudományból.</a:t>
            </a:r>
            <a:endParaRPr lang="en-US" sz="1175" dirty="0"/>
          </a:p>
        </p:txBody>
      </p:sp>
      <p:sp>
        <p:nvSpPr>
          <p:cNvPr id="19" name="Shape 16"/>
          <p:cNvSpPr/>
          <p:nvPr/>
        </p:nvSpPr>
        <p:spPr>
          <a:xfrm>
            <a:off x="77449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095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72B87A"/>
          </a:solidFill>
          <a:ln w="12700">
            <a:solidFill>
              <a:srgbClr val="72B87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650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Korai oktatási programok</a:t>
            </a:r>
            <a:endParaRPr lang="en-US" sz="1410" dirty="0"/>
          </a:p>
        </p:txBody>
      </p:sp>
      <p:sp>
        <p:nvSpPr>
          <p:cNvPr id="22" name="Text 19"/>
          <p:cNvSpPr/>
          <p:nvPr/>
        </p:nvSpPr>
        <p:spPr>
          <a:xfrm>
            <a:off x="80650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 Dartmouth körüli számítógépes oktatási közegben dolgozott, és következetesen azt képviselte, hogy a programozást széles körben tanítani kell.</a:t>
            </a:r>
            <a:endParaRPr lang="en-US" sz="1175" dirty="0"/>
          </a:p>
        </p:txBody>
      </p:sp>
      <p:sp>
        <p:nvSpPr>
          <p:cNvPr id="23" name="Shape 20"/>
          <p:cNvSpPr/>
          <p:nvPr/>
        </p:nvSpPr>
        <p:spPr>
          <a:xfrm>
            <a:off x="3858768" y="4005072"/>
            <a:ext cx="7498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023360" y="4169664"/>
            <a:ext cx="54864" cy="932688"/>
          </a:xfrm>
          <a:prstGeom prst="roundRect">
            <a:avLst>
              <a:gd name="adj" fmla="val 33333"/>
            </a:avLst>
          </a:prstGeom>
          <a:solidFill>
            <a:srgbClr val="72B87A"/>
          </a:solidFill>
          <a:ln w="12700">
            <a:solidFill>
              <a:srgbClr val="72B87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78808" y="415137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Clarke College</a:t>
            </a:r>
            <a:endParaRPr lang="en-US" sz="1410" dirty="0"/>
          </a:p>
        </p:txBody>
      </p:sp>
      <p:sp>
        <p:nvSpPr>
          <p:cNvPr id="26" name="Text 23"/>
          <p:cNvSpPr/>
          <p:nvPr/>
        </p:nvSpPr>
        <p:spPr>
          <a:xfrm>
            <a:off x="4178808" y="4434840"/>
            <a:ext cx="699516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 Clarke College-on megalapította a számítástechnikai tanszéket, amelyet húsz éven át vezetett, különösen bátorítva a női hallgatókat.</a:t>
            </a:r>
            <a:endParaRPr lang="en-US" sz="1175" dirty="0"/>
          </a:p>
        </p:txBody>
      </p:sp>
      <p:sp>
        <p:nvSpPr>
          <p:cNvPr id="27" name="Shape 24"/>
          <p:cNvSpPr/>
          <p:nvPr/>
        </p:nvSpPr>
        <p:spPr>
          <a:xfrm>
            <a:off x="4709160" y="5404104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2312" y="553212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PhD • 1965</a:t>
            </a:r>
            <a:endParaRPr lang="en-US" sz="1070" dirty="0"/>
          </a:p>
        </p:txBody>
      </p:sp>
      <p:sp>
        <p:nvSpPr>
          <p:cNvPr id="29" name="Shape 26"/>
          <p:cNvSpPr/>
          <p:nvPr/>
        </p:nvSpPr>
        <p:spPr>
          <a:xfrm>
            <a:off x="6812280" y="5404104"/>
            <a:ext cx="1993392" cy="420624"/>
          </a:xfrm>
          <a:prstGeom prst="roundRect">
            <a:avLst>
              <a:gd name="adj" fmla="val 17391"/>
            </a:avLst>
          </a:prstGeom>
          <a:solidFill>
            <a:srgbClr val="72B87A"/>
          </a:solidFill>
          <a:ln w="12700">
            <a:solidFill>
              <a:srgbClr val="72B87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85432" y="553212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Clarke College</a:t>
            </a:r>
            <a:endParaRPr lang="en-US" sz="1070" dirty="0"/>
          </a:p>
        </p:txBody>
      </p:sp>
      <p:sp>
        <p:nvSpPr>
          <p:cNvPr id="31" name="Shape 28"/>
          <p:cNvSpPr/>
          <p:nvPr/>
        </p:nvSpPr>
        <p:spPr>
          <a:xfrm>
            <a:off x="8970264" y="5404104"/>
            <a:ext cx="2011680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43416" y="553212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oktatási úttörő</a:t>
            </a:r>
            <a:endParaRPr lang="en-US" sz="1070" dirty="0"/>
          </a:p>
        </p:txBody>
      </p:sp>
      <p:sp>
        <p:nvSpPr>
          <p:cNvPr id="33" name="Shape 30"/>
          <p:cNvSpPr/>
          <p:nvPr/>
        </p:nvSpPr>
        <p:spPr>
          <a:xfrm>
            <a:off x="749808" y="6309360"/>
            <a:ext cx="1078992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64008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i="1" dirty="0">
                <a:solidFill>
                  <a:srgbClr val="5F6778"/>
                </a:solidFill>
              </a:rPr>
              <a:t>A programozás története nem mellékszereplőkkel, hanem alapító figurákkal írta be a nőket a digitális korszakba.</a:t>
            </a:r>
            <a:endParaRPr lang="en-US" sz="1040" dirty="0"/>
          </a:p>
        </p:txBody>
      </p:sp>
      <p:sp>
        <p:nvSpPr>
          <p:cNvPr id="36" name="Text 32"/>
          <p:cNvSpPr/>
          <p:nvPr/>
        </p:nvSpPr>
        <p:spPr>
          <a:xfrm>
            <a:off x="1005840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Női informatikus úttörők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7BFA"/>
          </a:solidFill>
          <a:ln w="12700">
            <a:solidFill>
              <a:srgbClr val="5B7B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51206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18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Jean Bartik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49808" y="104241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5F6778"/>
                </a:solidFill>
              </a:rPr>
              <a:t>1924–2011  •  Az ENIAC-tól a tárolt programig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786384" y="1389888"/>
            <a:ext cx="2788920" cy="45262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5240">
            <a:solidFill>
              <a:srgbClr val="5B7BFA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1554480"/>
            <a:ext cx="2478024" cy="3584448"/>
          </a:xfrm>
          <a:prstGeom prst="roundRect">
            <a:avLst>
              <a:gd name="adj" fmla="val 2214"/>
            </a:avLst>
          </a:prstGeom>
          <a:solidFill>
            <a:srgbClr val="EEF1F7"/>
          </a:solidFill>
          <a:ln w="12700">
            <a:solidFill>
              <a:srgbClr val="EEF1F7">
                <a:alpha val="0"/>
              </a:srgbClr>
            </a:solidFill>
            <a:prstDash val="solid"/>
          </a:ln>
        </p:spPr>
      </p:sp>
      <p:pic>
        <p:nvPicPr>
          <p:cNvPr id="9" name="Image 0" descr="/mnt/data/women_profiles_assets/jean_bartik_l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572322"/>
            <a:ext cx="2478024" cy="154876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1832" y="5330952"/>
            <a:ext cx="2478024" cy="393192"/>
          </a:xfrm>
          <a:prstGeom prst="roundRect">
            <a:avLst>
              <a:gd name="adj" fmla="val 11628"/>
            </a:avLst>
          </a:prstGeom>
          <a:solidFill>
            <a:srgbClr val="5B7BFA"/>
          </a:solidFill>
          <a:ln w="12700">
            <a:solidFill>
              <a:srgbClr val="5B7BF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5440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</a:rPr>
              <a:t>Kulcsfigura a számítástechnika történetében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3858768" y="1389888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0F3FB"/>
          </a:solidFill>
          <a:ln w="12700">
            <a:solidFill>
              <a:srgbClr val="DCE2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9372" y="15270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7BFA"/>
                </a:solidFill>
              </a:rPr>
              <a:t>Miért fontos?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0" y="1792224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033"/>
                </a:solidFill>
              </a:rPr>
              <a:t>Jean Bartik már a legelső számítógépeknél olyan munkát végzett, amit ma magabiztosan szoftverfejlesztésnek neveznénk.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38587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0233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5B7BFA"/>
          </a:solidFill>
          <a:ln w="12700">
            <a:solidFill>
              <a:srgbClr val="5B7BF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788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Az ENIAC hat programozója között</a:t>
            </a:r>
            <a:endParaRPr lang="en-US" sz="1410" dirty="0"/>
          </a:p>
        </p:txBody>
      </p:sp>
      <p:sp>
        <p:nvSpPr>
          <p:cNvPr id="18" name="Text 15"/>
          <p:cNvSpPr/>
          <p:nvPr/>
        </p:nvSpPr>
        <p:spPr>
          <a:xfrm>
            <a:off x="41788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A kiválasztott hat női programozó egyikeként saját maguknak kellett megtanulniuk, hogyan viselkedik és hogyan „tanítható” a gép.</a:t>
            </a:r>
            <a:endParaRPr lang="en-US" sz="1175" dirty="0"/>
          </a:p>
        </p:txBody>
      </p:sp>
      <p:sp>
        <p:nvSpPr>
          <p:cNvPr id="19" name="Shape 16"/>
          <p:cNvSpPr/>
          <p:nvPr/>
        </p:nvSpPr>
        <p:spPr>
          <a:xfrm>
            <a:off x="7744968" y="2487168"/>
            <a:ext cx="3611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09560" y="2651760"/>
            <a:ext cx="54864" cy="969264"/>
          </a:xfrm>
          <a:prstGeom prst="roundRect">
            <a:avLst>
              <a:gd name="adj" fmla="val 33333"/>
            </a:avLst>
          </a:prstGeom>
          <a:solidFill>
            <a:srgbClr val="5B7BFA"/>
          </a:solidFill>
          <a:ln w="12700">
            <a:solidFill>
              <a:srgbClr val="5B7BF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65008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Tárolt programú áttörés</a:t>
            </a:r>
            <a:endParaRPr lang="en-US" sz="1410" dirty="0"/>
          </a:p>
        </p:txBody>
      </p:sp>
      <p:sp>
        <p:nvSpPr>
          <p:cNvPr id="22" name="Text 19"/>
          <p:cNvSpPr/>
          <p:nvPr/>
        </p:nvSpPr>
        <p:spPr>
          <a:xfrm>
            <a:off x="8065008" y="2916936"/>
            <a:ext cx="31089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1947-ben részt vett abban a munkában, amely az ENIAC-ot tárolt programú </a:t>
            </a:r>
            <a:r>
              <a:rPr lang="en-US" sz="1175" dirty="0" err="1">
                <a:solidFill>
                  <a:srgbClr val="182033"/>
                </a:solidFill>
              </a:rPr>
              <a:t>géppé</a:t>
            </a:r>
            <a:r>
              <a:rPr lang="en-US" sz="1175" dirty="0">
                <a:solidFill>
                  <a:srgbClr val="182033"/>
                </a:solidFill>
              </a:rPr>
              <a:t> </a:t>
            </a:r>
            <a:r>
              <a:rPr lang="en-US" sz="1175" dirty="0" err="1">
                <a:solidFill>
                  <a:srgbClr val="182033"/>
                </a:solidFill>
              </a:rPr>
              <a:t>alakította</a:t>
            </a:r>
            <a:r>
              <a:rPr lang="hu-HU" sz="1175" dirty="0">
                <a:solidFill>
                  <a:srgbClr val="182033"/>
                </a:solidFill>
              </a:rPr>
              <a:t>,</a:t>
            </a:r>
            <a:r>
              <a:rPr lang="en-US" sz="1175" dirty="0">
                <a:solidFill>
                  <a:srgbClr val="182033"/>
                </a:solidFill>
              </a:rPr>
              <a:t> </a:t>
            </a:r>
            <a:r>
              <a:rPr lang="en-US" sz="1175" dirty="0" err="1">
                <a:solidFill>
                  <a:srgbClr val="182033"/>
                </a:solidFill>
              </a:rPr>
              <a:t>ez</a:t>
            </a:r>
            <a:r>
              <a:rPr lang="hu-HU" sz="1175" dirty="0">
                <a:solidFill>
                  <a:srgbClr val="182033"/>
                </a:solidFill>
              </a:rPr>
              <a:t> </a:t>
            </a:r>
            <a:r>
              <a:rPr lang="en-US" sz="1175" dirty="0">
                <a:solidFill>
                  <a:srgbClr val="182033"/>
                </a:solidFill>
              </a:rPr>
              <a:t> korszakos lépés volt.</a:t>
            </a:r>
            <a:endParaRPr lang="en-US" sz="1175" dirty="0"/>
          </a:p>
        </p:txBody>
      </p:sp>
      <p:sp>
        <p:nvSpPr>
          <p:cNvPr id="23" name="Shape 20"/>
          <p:cNvSpPr/>
          <p:nvPr/>
        </p:nvSpPr>
        <p:spPr>
          <a:xfrm>
            <a:off x="3858768" y="4005072"/>
            <a:ext cx="7498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9DDEA"/>
            </a:solidFill>
            <a:prstDash val="solid"/>
          </a:ln>
          <a:effectLst>
            <a:outerShdw blurRad="1524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023360" y="4169664"/>
            <a:ext cx="54864" cy="932688"/>
          </a:xfrm>
          <a:prstGeom prst="roundRect">
            <a:avLst>
              <a:gd name="adj" fmla="val 33333"/>
            </a:avLst>
          </a:prstGeom>
          <a:solidFill>
            <a:srgbClr val="5B7BFA"/>
          </a:solidFill>
          <a:ln w="12700">
            <a:solidFill>
              <a:srgbClr val="5B7BF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78808" y="415137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152041"/>
                </a:solidFill>
              </a:rPr>
              <a:t>Átvezetés a kereskedelmi korszakba</a:t>
            </a:r>
            <a:endParaRPr lang="en-US" sz="1410" dirty="0"/>
          </a:p>
        </p:txBody>
      </p:sp>
      <p:sp>
        <p:nvSpPr>
          <p:cNvPr id="26" name="Text 23"/>
          <p:cNvSpPr/>
          <p:nvPr/>
        </p:nvSpPr>
        <p:spPr>
          <a:xfrm>
            <a:off x="4178808" y="4434840"/>
            <a:ext cx="699516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75" dirty="0">
                <a:solidFill>
                  <a:srgbClr val="182033"/>
                </a:solidFill>
              </a:rPr>
              <a:t>Később a BINAC és a UNIVAC I fejlesztésében is dolgozott, így a háborús számítástechnikát a polgári felhasználás felé vitte tovább.</a:t>
            </a:r>
            <a:endParaRPr lang="en-US" sz="1175" dirty="0"/>
          </a:p>
        </p:txBody>
      </p:sp>
      <p:sp>
        <p:nvSpPr>
          <p:cNvPr id="27" name="Shape 24"/>
          <p:cNvSpPr/>
          <p:nvPr/>
        </p:nvSpPr>
        <p:spPr>
          <a:xfrm>
            <a:off x="4709160" y="5404104"/>
            <a:ext cx="1938528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2312" y="553212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ENIAC Six</a:t>
            </a:r>
            <a:endParaRPr lang="en-US" sz="1070" dirty="0"/>
          </a:p>
        </p:txBody>
      </p:sp>
      <p:sp>
        <p:nvSpPr>
          <p:cNvPr id="29" name="Shape 26"/>
          <p:cNvSpPr/>
          <p:nvPr/>
        </p:nvSpPr>
        <p:spPr>
          <a:xfrm>
            <a:off x="6812280" y="5404104"/>
            <a:ext cx="1993392" cy="420624"/>
          </a:xfrm>
          <a:prstGeom prst="roundRect">
            <a:avLst>
              <a:gd name="adj" fmla="val 17391"/>
            </a:avLst>
          </a:prstGeom>
          <a:solidFill>
            <a:srgbClr val="5B7BFA"/>
          </a:solidFill>
          <a:ln w="12700">
            <a:solidFill>
              <a:srgbClr val="5B7B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85432" y="553212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stored-program</a:t>
            </a:r>
            <a:endParaRPr lang="en-US" sz="1070" dirty="0"/>
          </a:p>
        </p:txBody>
      </p:sp>
      <p:sp>
        <p:nvSpPr>
          <p:cNvPr id="31" name="Shape 28"/>
          <p:cNvSpPr/>
          <p:nvPr/>
        </p:nvSpPr>
        <p:spPr>
          <a:xfrm>
            <a:off x="8970264" y="5404104"/>
            <a:ext cx="2011680" cy="420624"/>
          </a:xfrm>
          <a:prstGeom prst="roundRect">
            <a:avLst>
              <a:gd name="adj" fmla="val 17391"/>
            </a:avLst>
          </a:prstGeom>
          <a:solidFill>
            <a:srgbClr val="EAEFFC"/>
          </a:solidFill>
          <a:ln w="12700">
            <a:solidFill>
              <a:srgbClr val="D6DDF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43416" y="553212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52041"/>
                </a:solidFill>
              </a:rPr>
              <a:t>UNIVAC I</a:t>
            </a:r>
            <a:endParaRPr lang="en-US" sz="1070" dirty="0"/>
          </a:p>
        </p:txBody>
      </p:sp>
      <p:sp>
        <p:nvSpPr>
          <p:cNvPr id="33" name="Shape 30"/>
          <p:cNvSpPr/>
          <p:nvPr/>
        </p:nvSpPr>
        <p:spPr>
          <a:xfrm>
            <a:off x="749808" y="6309360"/>
            <a:ext cx="10789920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64008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i="1" dirty="0">
                <a:solidFill>
                  <a:srgbClr val="5F6778"/>
                </a:solidFill>
              </a:rPr>
              <a:t>A programozás története nem mellékszereplőkkel, hanem alapító figurákkal írta be a nőket a digitális korszakba.</a:t>
            </a:r>
            <a:endParaRPr lang="en-US" sz="1040" dirty="0"/>
          </a:p>
        </p:txBody>
      </p:sp>
      <p:sp>
        <p:nvSpPr>
          <p:cNvPr id="36" name="Text 32"/>
          <p:cNvSpPr/>
          <p:nvPr/>
        </p:nvSpPr>
        <p:spPr>
          <a:xfrm>
            <a:off x="1005840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Női informatikus úttörők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1452</Words>
  <Application>Microsoft Office PowerPoint</Application>
  <PresentationFormat>Szélesvásznú</PresentationFormat>
  <Paragraphs>122</Paragraphs>
  <Slides>7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Női informatikus úttörők</dc:title>
  <dc:subject>Női informatikus úttörők</dc:subject>
  <dc:creator>OpenAI</dc:creator>
  <cp:lastModifiedBy>Minczér David</cp:lastModifiedBy>
  <cp:revision>3</cp:revision>
  <dcterms:created xsi:type="dcterms:W3CDTF">2026-04-20T13:06:24Z</dcterms:created>
  <dcterms:modified xsi:type="dcterms:W3CDTF">2026-04-20T13:21:24Z</dcterms:modified>
</cp:coreProperties>
</file>